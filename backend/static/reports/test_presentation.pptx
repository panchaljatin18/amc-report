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 rIns="10972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Zone wise Road CCRS Complaints Report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Open Complaints Breakdown by Problem Category across Zones  •  Reporting Period: August 2026</a:t>
            </a:r>
          </a:p>
        </p:txBody>
      </p:sp>
      <p:pic>
        <p:nvPicPr>
          <p:cNvPr id="3" name="Picture 2" descr="AMC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09728"/>
            <a:ext cx="777240" cy="777240"/>
          </a:xfrm>
          <a:prstGeom prst="rect">
            <a:avLst/>
          </a:prstGeom>
        </p:spPr>
      </p:pic>
      <p:pic>
        <p:nvPicPr>
          <p:cNvPr id="4" name="Picture 3" descr="road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7863840" cy="374903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12480" y="1188720"/>
            <a:ext cx="347472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TOTAL COMPLAINTS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2558</a:t>
            </a:r>
          </a:p>
          <a:p>
            <a:r>
              <a:rPr sz="900" b="1">
                <a:solidFill>
                  <a:srgbClr val="DC2626"/>
                </a:solidFill>
                <a:latin typeface="Calibri"/>
              </a:rPr>
              <a:t>22.28% Open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1188720"/>
            <a:ext cx="3474720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0" y="2377440"/>
            <a:ext cx="347472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CLOSED COMPLAINTS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1988</a:t>
            </a:r>
          </a:p>
          <a:p>
            <a:r>
              <a:rPr sz="900" b="1">
                <a:solidFill>
                  <a:srgbClr val="16A34A"/>
                </a:solidFill>
                <a:latin typeface="Calibri"/>
              </a:rPr>
              <a:t>77.72% Resolution Rate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2377440"/>
            <a:ext cx="3474720" cy="731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3566160"/>
            <a:ext cx="3474720" cy="10515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OPEN COMPLAINTS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570</a:t>
            </a:r>
          </a:p>
          <a:p>
            <a:r>
              <a:rPr sz="900" b="1">
                <a:solidFill>
                  <a:srgbClr val="D97706"/>
                </a:solidFill>
                <a:latin typeface="Calibri"/>
              </a:rPr>
              <a:t>Requires Field Maintenance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3566160"/>
            <a:ext cx="3474720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5029200"/>
            <a:ext cx="11643055" cy="1600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09728" rIns="137160"/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KEY INSIGHTS &amp; EXECUTIVE SUMMARY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Overall Road Status: 2558 total complaints registered — 1988 resolved (77.72% resolution rate) and 570 open (22.28% pending field maintenance action.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Zone Backlog Severity: Top 3 zones with highest open road complaints — CENTRAL (123), WEST (104), NORTH (82).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Critical Problem Category: 'Road-Repair Require' is the leading road issue with 353 open cases (61.93% of total road backlog) — requiring priority material &amp; crew deployment.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Highest Pending Ratio: Zone 'CENTRAL' has 24.21% of its complaints still open (123 cases) — immediate supervisory intervention required.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029200"/>
            <a:ext cx="73152" cy="160020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 rIns="10972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Zone wise Road CCRS Complaints - Detailed Data Table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Zone &amp; Problem Category Breakdown  •  August 2026</a:t>
            </a:r>
          </a:p>
        </p:txBody>
      </p:sp>
      <p:pic>
        <p:nvPicPr>
          <p:cNvPr id="3" name="Picture 2" descr="AMC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09728"/>
            <a:ext cx="777240" cy="77724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43000"/>
          <a:ext cx="11643054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749039"/>
                <a:gridCol w="1828800"/>
                <a:gridCol w="1828800"/>
                <a:gridCol w="2133295"/>
              </a:tblGrid>
              <a:tr h="181356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PROBLEM CATEGORY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NORTH WEST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Road-Repair Require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NORTH WEST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Road-Bhuva On Road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NORTH WEST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Road-Footpath Repairing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NORTH WEST — Subtotal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195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250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Road-Repair Require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Road-Bhuva On Road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Road-Footpath Repairing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WEST — Subtotal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345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449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Road-Repair Require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222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Road-Bhuva On Road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Road-Footpath Repairing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SOUTH — Subtotal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280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SOUTH 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Road-Repair Require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SOUTH 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Road-Bhuva On Road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SOUTH 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Road-Footpath Repairing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SOUTH WEST — Subtotal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225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61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286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Road-Repair Require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190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240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Road-Bhuva On Road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Road-Footpath Repairing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NORTH — Subtotal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305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387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Road-Repair Require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230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Road-Bhuva On Road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Road-Footpath Repairing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CENTRAL — Subtotal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385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508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Road-Repair Require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160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208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Road-Bhuva On Road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71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Road-Footpath Repairing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EAST — Subtotal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0F172A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253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DC2626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F172A"/>
                          </a:solidFill>
                          <a:latin typeface="Calibri"/>
                        </a:rPr>
                        <a:t>328</a:t>
                      </a:r>
                    </a:p>
                  </a:txBody>
                  <a:tcPr>
                    <a:solidFill>
                      <a:srgbClr val="E2E8F0"/>
                    </a:solidFill>
                  </a:tcPr>
                </a:tc>
              </a:tr>
              <a:tr h="18135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1988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CA5A5"/>
                          </a:solidFill>
                          <a:latin typeface="Calibri"/>
                        </a:rPr>
                        <a:t>570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2558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 rIns="10972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CCRS Drainage Complaints Summary Report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Comprehensive Zone-Wise Open Complaints Analysis  •  Period: August 2026</a:t>
            </a:r>
          </a:p>
        </p:txBody>
      </p:sp>
      <p:pic>
        <p:nvPicPr>
          <p:cNvPr id="3" name="Picture 2" descr="AMC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09728"/>
            <a:ext cx="777240" cy="777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74320" y="1097280"/>
            <a:ext cx="2743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TOTAL COMPLAINTS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4750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097280"/>
            <a:ext cx="2743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CLOSED COMPLAINTS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3650</a:t>
            </a:r>
          </a:p>
          <a:p>
            <a:r>
              <a:rPr sz="900" b="1">
                <a:solidFill>
                  <a:srgbClr val="16A34A"/>
                </a:solidFill>
                <a:latin typeface="Calibri"/>
              </a:rPr>
              <a:t>76.84% Res.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743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OPEN COMPLAINTS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1100</a:t>
            </a:r>
          </a:p>
          <a:p>
            <a:r>
              <a:rPr sz="900" b="1">
                <a:solidFill>
                  <a:srgbClr val="DC2626"/>
                </a:solidFill>
                <a:latin typeface="Calibri"/>
              </a:rPr>
              <a:t>23.16% Pending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743200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1097280"/>
            <a:ext cx="274320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HIGHEST OPEN ZONE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CENTRAL</a:t>
            </a:r>
          </a:p>
          <a:p>
            <a:r>
              <a:rPr sz="900" b="1">
                <a:solidFill>
                  <a:srgbClr val="D97706"/>
                </a:solidFill>
                <a:latin typeface="Calibri"/>
              </a:rPr>
              <a:t>258 Open Cases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1097280"/>
            <a:ext cx="2743200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rainage_cat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240280"/>
            <a:ext cx="5760720" cy="4389120"/>
          </a:xfrm>
          <a:prstGeom prst="rect">
            <a:avLst/>
          </a:prstGeom>
        </p:spPr>
      </p:pic>
      <p:pic>
        <p:nvPicPr>
          <p:cNvPr id="13" name="Picture 12" descr="drainage_total_volu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240280"/>
            <a:ext cx="5608015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 rIns="10972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Zone-Wise CCRS Drainage Complaints Detailed Data Table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Zone Matrix with Category Open Counts &amp; Resolution Rates  •  August 2026</a:t>
            </a:r>
          </a:p>
        </p:txBody>
      </p:sp>
      <p:pic>
        <p:nvPicPr>
          <p:cNvPr id="3" name="Picture 2" descr="AMC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09728"/>
            <a:ext cx="777240" cy="77724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43000"/>
          <a:ext cx="1420337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33523"/>
                <a:gridCol w="2133523"/>
                <a:gridCol w="2133523"/>
                <a:gridCol w="2133523"/>
                <a:gridCol w="1097280"/>
                <a:gridCol w="1097280"/>
                <a:gridCol w="1097280"/>
                <a:gridCol w="1097280"/>
              </a:tblGrid>
              <a:tr h="386080"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Choking Of Line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Manhole Cover Missing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Public Toilets/Urinals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Total Open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Total Closed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Grand Total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% Open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258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745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1003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25.72%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215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24.57%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168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555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723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23.24%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22.82%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NORTH WEST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126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448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574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21.95%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SOUTH WEST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88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438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20.09%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86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ALL ZONES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725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137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161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77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CA5A5"/>
                          </a:solidFill>
                          <a:latin typeface="Calibri"/>
                        </a:rPr>
                        <a:t>1100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3650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4750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23.16%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4754880"/>
            <a:ext cx="11643055" cy="1874519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09728" rIns="137160"/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KEY INSIGHTS &amp; EXECUTIVE SUMMARY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Primary cause of backlog: 'Choking Of Line' with 725 open complaints (65.91% of total citywide open backlog).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Zone backlog severity ranking: Top 3 affected zones are CENTRAL (258), WEST (215), NORTH (168).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Highest pending ratio: Zone 'CENTRAL' has the highest pending ratio at 25.72% open.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Safety Critical Action: 'Manhole Cover Missing' has 137 pending cases. Top priority zones requiring immediate replacement: CENTRAL (35), WEST (28), NORTH (22).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754880"/>
            <a:ext cx="73152" cy="1874519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 rIns="10972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CCRS Water Complaints: Zone &amp; Category Open Summary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Reporting Period: August 2026</a:t>
            </a:r>
          </a:p>
        </p:txBody>
      </p:sp>
      <p:pic>
        <p:nvPicPr>
          <p:cNvPr id="3" name="Picture 2" descr="AMC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09728"/>
            <a:ext cx="777240" cy="777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74320" y="1097280"/>
            <a:ext cx="2743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TOTAL OPEN COMPLAINTS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1226</a:t>
            </a:r>
          </a:p>
          <a:p>
            <a:r>
              <a:rPr sz="900" b="1">
                <a:solidFill>
                  <a:srgbClr val="DC2626"/>
                </a:solidFill>
                <a:latin typeface="Calibri"/>
              </a:rPr>
              <a:t>Citywide Water Backlog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743200" cy="73152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097280"/>
            <a:ext cx="2743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TOP OPEN ZONE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CENTRAL</a:t>
            </a:r>
          </a:p>
          <a:p>
            <a:r>
              <a:rPr sz="900" b="1">
                <a:solidFill>
                  <a:srgbClr val="D97706"/>
                </a:solidFill>
                <a:latin typeface="Calibri"/>
              </a:rPr>
              <a:t>305 Open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743200" cy="73152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2743200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TOP OPEN CATEGORY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Leakage</a:t>
            </a:r>
          </a:p>
          <a:p>
            <a:r>
              <a:rPr sz="900" b="1">
                <a:solidFill>
                  <a:srgbClr val="2563EB"/>
                </a:solidFill>
                <a:latin typeface="Calibri"/>
              </a:rPr>
              <a:t>362 Cases (29.53%)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74320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1097280"/>
            <a:ext cx="2723083" cy="9601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64592" lIns="164592"/>
          <a:lstStyle/>
          <a:p>
            <a:pPr algn="ctr"/>
            <a:r>
              <a:rPr sz="900" b="1">
                <a:solidFill>
                  <a:srgbClr val="64748B"/>
                </a:solidFill>
                <a:latin typeface="Calibri"/>
              </a:rPr>
              <a:t>CATEGORIES TRACKED</a:t>
            </a:r>
          </a:p>
          <a:p>
            <a:r>
              <a:rPr sz="2200" b="1">
                <a:solidFill>
                  <a:srgbClr val="0F172A"/>
                </a:solidFill>
                <a:latin typeface="Calibri"/>
              </a:rPr>
              <a:t>6</a:t>
            </a:r>
          </a:p>
          <a:p>
            <a:r>
              <a:rPr sz="900" b="1">
                <a:solidFill>
                  <a:srgbClr val="16A34A"/>
                </a:solidFill>
                <a:latin typeface="Calibri"/>
              </a:rPr>
              <a:t>Active Water Issue Types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89720" y="1097280"/>
            <a:ext cx="2723083" cy="731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2176272"/>
          <a:ext cx="11643054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9509"/>
                <a:gridCol w="1559509"/>
                <a:gridCol w="1559509"/>
                <a:gridCol w="1559509"/>
                <a:gridCol w="1559509"/>
                <a:gridCol w="1559509"/>
                <a:gridCol w="914400"/>
              </a:tblGrid>
              <a:tr h="259080"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Zone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No Supply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Leakage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Pollution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Low Pressure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Tanker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Total Open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CENTRAL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70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EE2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305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185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158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NORTH WEST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135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0F172A"/>
                          </a:solidFill>
                          <a:latin typeface="Calibri"/>
                        </a:rPr>
                        <a:t>SOUTH WEST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F17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DC2626"/>
                          </a:solidFill>
                          <a:latin typeface="Calibri"/>
                        </a:rPr>
                        <a:t>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Total Open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218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362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165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288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118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CA5A5"/>
                          </a:solidFill>
                          <a:latin typeface="Calibri"/>
                        </a:rPr>
                        <a:t>1226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water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17720"/>
            <a:ext cx="7772400" cy="201168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275320" y="4617720"/>
            <a:ext cx="365760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09728" rIns="137160"/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KEY INSIGHTS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Highest Pendency Category: 'Leakage' accounts for 362 open complaints (29.53% of total citywide water backlog).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Top 3 High-Pressure Zones: CENTRAL (305), WEST (235), NORTH (185) represent 59.14% of total citywide water complaints.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Zone-Specific Key Challenges: CENTRAL: Leakage (85); WEST: Leakage (68); NORTH: Leakage (54); EAST: Leakage (48); NORTH WEST: Leakage (42); SOUTH: Leakage (35); SOUTH WEST: Leakage (30).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4617720"/>
            <a:ext cx="73152" cy="201168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11480" tIns="109728" rIns="109728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CCRS Water Complaints - Strategic Focus &amp; Executive Summary</a:t>
            </a:r>
          </a:p>
          <a:p>
            <a:r>
              <a:rPr sz="1000">
                <a:solidFill>
                  <a:srgbClr val="94A3B8"/>
                </a:solidFill>
                <a:latin typeface="Calibri"/>
              </a:rPr>
              <a:t>Actionable Insights Based on Zone x Category Analysis  •  August 2026</a:t>
            </a:r>
          </a:p>
        </p:txBody>
      </p:sp>
      <p:pic>
        <p:nvPicPr>
          <p:cNvPr id="3" name="Picture 2" descr="AMC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09728"/>
            <a:ext cx="777240" cy="777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74320" y="1188720"/>
            <a:ext cx="11643055" cy="53035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09728" rIns="137160"/>
          <a:lstStyle/>
          <a:p>
            <a:pPr algn="ctr"/>
            <a:r>
              <a:rPr sz="1100" b="1">
                <a:solidFill>
                  <a:srgbClr val="1E3A8A"/>
                </a:solidFill>
                <a:latin typeface="Calibri"/>
              </a:rPr>
              <a:t>KEY INSIGHTS &amp; STRATEGIC FOCUS AREAS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Highest Pendency Category: 'Leakage' accounts for 362 open complaints (29.53% of total citywide water backlog).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Top 3 High-Pressure Zones: CENTRAL (305), WEST (235), NORTH (185) represent 59.14% of total citywide water complaints.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Zone-Specific Key Challenges: CENTRAL: Leakage (85); WEST: Leakage (68); NORTH: Leakage (54); EAST: Leakage (48); NORTH WEST: Leakage (42); SOUTH: Leakage (35); SOUTH WEST: Leakage (30).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0F172A"/>
                </a:solidFill>
                <a:latin typeface="Calibri"/>
              </a:rPr>
              <a:t>•  Targeted Intervention Required: Zone 'CENTRAL' alone accounts for 305 open cases (24.88% of citywide water backlog) — dedicated water supply teams and SCADA monitoring recommended.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73152" cy="53035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